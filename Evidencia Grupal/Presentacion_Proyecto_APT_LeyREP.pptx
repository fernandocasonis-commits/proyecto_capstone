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71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8" r:id="rId11"/>
    <p:sldId id="269" r:id="rId12"/>
    <p:sldId id="270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084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906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12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077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88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097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19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56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568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462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57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41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159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00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863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287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1640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121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05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491AE-9ED6-49DE-A2A7-E1EFA22BB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5989" y="2693987"/>
            <a:ext cx="7068671" cy="1470025"/>
          </a:xfrm>
        </p:spPr>
        <p:txBody>
          <a:bodyPr>
            <a:normAutofit fontScale="90000"/>
          </a:bodyPr>
          <a:lstStyle/>
          <a:p>
            <a:br>
              <a:rPr lang="es-ES" dirty="0"/>
            </a:br>
            <a:r>
              <a:rPr lang="es-ES" sz="3600" dirty="0" err="1"/>
              <a:t>Sinarep</a:t>
            </a:r>
            <a:r>
              <a:rPr lang="es-ES" sz="3600" dirty="0"/>
              <a:t> </a:t>
            </a:r>
            <a:br>
              <a:rPr lang="es-ES" sz="3600" dirty="0"/>
            </a:br>
            <a:r>
              <a:rPr lang="es-ES" sz="2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Cuantificación de Materialidades y Declaración Ley REP</a:t>
            </a:r>
            <a:br>
              <a:rPr lang="es-ES" dirty="0"/>
            </a:b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45C303-8D3A-493D-8B43-F6E590DBE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599" y="3886200"/>
            <a:ext cx="8220635" cy="1752600"/>
          </a:xfrm>
        </p:spPr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Integrantes: Fernando (Líder Técnico &amp; Core </a:t>
            </a:r>
            <a:r>
              <a:rPr lang="pt-BR" dirty="0" err="1">
                <a:solidFill>
                  <a:schemeClr val="tx1"/>
                </a:solidFill>
              </a:rPr>
              <a:t>Engine</a:t>
            </a:r>
            <a:r>
              <a:rPr lang="pt-BR" dirty="0">
                <a:solidFill>
                  <a:schemeClr val="tx1"/>
                </a:solidFill>
              </a:rPr>
              <a:t>) </a:t>
            </a:r>
          </a:p>
          <a:p>
            <a:r>
              <a:rPr lang="pt-BR" dirty="0">
                <a:solidFill>
                  <a:schemeClr val="tx1"/>
                </a:solidFill>
              </a:rPr>
              <a:t>	Matias Machuca(</a:t>
            </a:r>
            <a:r>
              <a:rPr lang="pt-BR" dirty="0" err="1">
                <a:solidFill>
                  <a:schemeClr val="tx1"/>
                </a:solidFill>
              </a:rPr>
              <a:t>Frontend</a:t>
            </a:r>
            <a:r>
              <a:rPr lang="pt-BR" dirty="0">
                <a:solidFill>
                  <a:schemeClr val="tx1"/>
                </a:solidFill>
              </a:rPr>
              <a:t> &amp; QA)</a:t>
            </a:r>
            <a:endParaRPr lang="es-C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166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92188" y="873591"/>
            <a:ext cx="7109013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2200" b="1">
                <a:solidFill>
                  <a:srgbClr val="0F4C81"/>
                </a:solidFill>
                <a:latin typeface="Arial"/>
              </a:defRPr>
            </a:pPr>
            <a:r>
              <a:rPr sz="2400" dirty="0" err="1"/>
              <a:t>Contexto</a:t>
            </a:r>
            <a:r>
              <a:rPr sz="2400" dirty="0"/>
              <a:t> </a:t>
            </a:r>
            <a:r>
              <a:rPr sz="2400" dirty="0" err="1"/>
              <a:t>Normativo</a:t>
            </a:r>
            <a:r>
              <a:rPr sz="2400" dirty="0"/>
              <a:t> y </a:t>
            </a:r>
            <a:r>
              <a:rPr sz="2400" dirty="0" err="1"/>
              <a:t>Problemática</a:t>
            </a:r>
            <a:r>
              <a:rPr sz="2400" dirty="0"/>
              <a:t> del </a:t>
            </a:r>
            <a:r>
              <a:rPr sz="2400" dirty="0" err="1"/>
              <a:t>Negocio</a:t>
            </a:r>
            <a:endParaRPr sz="2400"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13455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29562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4C81"/>
                </a:solidFill>
                <a:latin typeface="Arial"/>
              </a:defRPr>
            </a:pPr>
            <a:r>
              <a:t>Marco Normativo Ley REP</a:t>
            </a:r>
          </a:p>
          <a:p>
            <a:pPr>
              <a:spcBef>
                <a:spcPts val="400"/>
              </a:spcBef>
              <a:defRPr sz="1100" b="1">
                <a:solidFill>
                  <a:srgbClr val="10955B"/>
                </a:solidFill>
                <a:latin typeface="Arial"/>
              </a:defRPr>
            </a:pPr>
            <a:r>
              <a:t>Ley N° 20.920 en Chile</a:t>
            </a:r>
          </a:p>
          <a:p>
            <a:pPr>
              <a:spcBef>
                <a:spcPts val="12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t>Obliga a empresas productoras e importadoras a cuantificar y declarar periódicamente el tonelaje de envases y embalajes (plásticos, cartones, metales, vidrio, madera) introducidos al mercado nacional.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720" y="1874519"/>
            <a:ext cx="29562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4C81"/>
                </a:solidFill>
                <a:latin typeface="Arial"/>
              </a:defRPr>
            </a:pPr>
            <a:r>
              <a:t>El Dolor Operativo Actual</a:t>
            </a:r>
          </a:p>
          <a:p>
            <a:pPr>
              <a:spcBef>
                <a:spcPts val="400"/>
              </a:spcBef>
              <a:defRPr sz="1100" b="1">
                <a:solidFill>
                  <a:srgbClr val="10955B"/>
                </a:solidFill>
                <a:latin typeface="Arial"/>
              </a:defRPr>
            </a:pPr>
            <a:r>
              <a:t>Procesos Manuales y Caos</a:t>
            </a:r>
          </a:p>
          <a:p>
            <a:pPr>
              <a:spcBef>
                <a:spcPts val="12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t>Las organizaciones cruzan libros de venta masivos contra especificaciones de empaque manualmente en Excel. Esto genera errores de redondeo, fórmulas rotas e inversión de porcentajes domiciliarios.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13455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874519"/>
            <a:ext cx="29562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4C81"/>
                </a:solidFill>
                <a:latin typeface="Arial"/>
              </a:defRPr>
            </a:pPr>
            <a:r>
              <a:t>Riesgo Legal y Multas SMA</a:t>
            </a:r>
          </a:p>
          <a:p>
            <a:pPr>
              <a:spcBef>
                <a:spcPts val="400"/>
              </a:spcBef>
              <a:defRPr sz="1100" b="1">
                <a:solidFill>
                  <a:srgbClr val="10955B"/>
                </a:solidFill>
                <a:latin typeface="Arial"/>
              </a:defRPr>
            </a:pPr>
            <a:r>
              <a:t>Consecuencias de hasta 10.000 UTA</a:t>
            </a:r>
          </a:p>
          <a:p>
            <a:pPr>
              <a:spcBef>
                <a:spcPts val="12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t>La Superintendencia del Medio Ambiente sanciona declaraciones erróneas o fuera de plazo con multas multimillonarias. Además, ReSimple exige plantillas con geometrías rígidas y desalineaciones de celdas.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1576" y="866894"/>
            <a:ext cx="892884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2200" b="1">
                <a:solidFill>
                  <a:srgbClr val="0F4C81"/>
                </a:solidFill>
                <a:latin typeface="Arial"/>
              </a:defRPr>
            </a:pPr>
            <a:r>
              <a:rPr sz="2400" dirty="0" err="1"/>
              <a:t>Propuesta</a:t>
            </a:r>
            <a:r>
              <a:rPr sz="2400" dirty="0"/>
              <a:t> de </a:t>
            </a:r>
            <a:r>
              <a:rPr sz="2400" dirty="0" err="1"/>
              <a:t>Solución</a:t>
            </a:r>
            <a:r>
              <a:rPr sz="2400" dirty="0"/>
              <a:t>: Plataforma SaaS B2B </a:t>
            </a:r>
            <a:r>
              <a:rPr sz="2400" dirty="0" err="1"/>
              <a:t>Especializada</a:t>
            </a:r>
            <a:endParaRPr sz="2400"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4C81"/>
                </a:solidFill>
                <a:latin typeface="Arial"/>
              </a:defRPr>
            </a:pPr>
            <a:r>
              <a:t>1. Catálogo Técnico Multi-Empresa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Registro de SKUs desagregado en capas de material (pesos en gramos, tipo de plástico, ductilidad y peligrosidad). Totalmente aislado por Razón Social.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4C81"/>
                </a:solidFill>
                <a:latin typeface="Arial"/>
              </a:defRPr>
            </a:pPr>
            <a:r>
              <a:t>2. Ingesta Inteligente de Ventas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Parser tolerante a fallos que procesa planillas de clientes heterogéneas, omitiendo títulos institucionales y filas vacías con detección dinámica de cabeceras.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4C81"/>
                </a:solidFill>
                <a:latin typeface="Arial"/>
              </a:defRPr>
            </a:pPr>
            <a:r>
              <a:t>3. Motor de Cálculo y Prorrateo REP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Motor determinístico ('calculateTonnage.ts') que calcula materialidades a 6 decimales, aplica reglas logísticas (pallets/cajas) y prorratea canales DOM / NO DOM.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31920"/>
            <a:ext cx="5257800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411480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4C81"/>
                </a:solidFill>
                <a:latin typeface="Arial"/>
              </a:defRPr>
            </a:pPr>
            <a:r>
              <a:t>4. Exportador Quirúrgico ReSimple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Inyección binaria no destructiva con ExcelJS sobre la plantilla oficial del Ministerio, preservando estilos y resolviendo desalineaciones verticales de celdas.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52077" y="886025"/>
            <a:ext cx="698888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2200" b="1">
                <a:solidFill>
                  <a:srgbClr val="0F4C81"/>
                </a:solidFill>
                <a:latin typeface="Arial"/>
              </a:defRPr>
            </a:pPr>
            <a:r>
              <a:rPr sz="2400" dirty="0" err="1"/>
              <a:t>Arquitectura</a:t>
            </a:r>
            <a:r>
              <a:rPr sz="2400" dirty="0"/>
              <a:t> de Software y Stack </a:t>
            </a:r>
            <a:r>
              <a:rPr sz="2400" dirty="0" err="1"/>
              <a:t>Tecnológico</a:t>
            </a:r>
            <a:endParaRPr sz="2400"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955B"/>
                </a:solidFill>
                <a:latin typeface="Arial"/>
              </a:defRPr>
            </a:pPr>
            <a:r>
              <a:t>FRONTEND SPA MODERNO</a:t>
            </a:r>
          </a:p>
          <a:p>
            <a:pPr>
              <a:spcBef>
                <a:spcPts val="200"/>
              </a:spcBef>
              <a:defRPr sz="1200" b="1">
                <a:solidFill>
                  <a:srgbClr val="0F4C81"/>
                </a:solidFill>
                <a:latin typeface="Arial"/>
              </a:defRPr>
            </a:pPr>
            <a:r>
              <a:t>React 19 + TypeScript 5.9 + Vite 8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• Modo estricto de TypeScript (prohibición absoluta de tipo 'any').</a:t>
            </a:r>
            <a:br/>
            <a:r>
              <a:t>• Arquitectura desacoplada: lógica pura en 'lib/' y UI en 'components/'.</a:t>
            </a:r>
            <a:br/>
            <a:r>
              <a:t>• Compilación ultrarrápida y cero dependencias pesadas en tiempo de carga.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955B"/>
                </a:solidFill>
                <a:latin typeface="Arial"/>
              </a:defRPr>
            </a:pPr>
            <a:r>
              <a:t>UI/UX CORPORATIVO B2B</a:t>
            </a:r>
          </a:p>
          <a:p>
            <a:pPr>
              <a:spcBef>
                <a:spcPts val="200"/>
              </a:spcBef>
              <a:defRPr sz="1200" b="1">
                <a:solidFill>
                  <a:srgbClr val="0F4C81"/>
                </a:solidFill>
                <a:latin typeface="Arial"/>
              </a:defRPr>
            </a:pPr>
            <a:r>
              <a:t>Tailwind CSS 4 + Lucide + TanStack Table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• 'Light Theme' corporativo estricto (slate/emerald) sin distractores.</a:t>
            </a:r>
            <a:br/>
            <a:r>
              <a:t>• Paginación y filtrado dinámico de catálogos masivos con TanStack.</a:t>
            </a:r>
            <a:br/>
            <a:r>
              <a:t>• Visualización de métricas de cumplimiento mediante gráficos Recharts.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955B"/>
                </a:solidFill>
                <a:latin typeface="Arial"/>
              </a:defRPr>
            </a:pPr>
            <a:r>
              <a:t>INGENIERÍA DE HOJAS DE CÁLCULO</a:t>
            </a:r>
          </a:p>
          <a:p>
            <a:pPr>
              <a:spcBef>
                <a:spcPts val="200"/>
              </a:spcBef>
              <a:defRPr sz="1200" b="1">
                <a:solidFill>
                  <a:srgbClr val="0F4C81"/>
                </a:solidFill>
                <a:latin typeface="Arial"/>
              </a:defRPr>
            </a:pPr>
            <a:r>
              <a:t>Separación Estratégica SheetJS vs ExcelJS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• SheetJS ('xlsx'): Utilizado exclusivamente para LECTURA de planillas no estructuradas de clientes.</a:t>
            </a:r>
            <a:br/>
            <a:r>
              <a:t>• ExcelJS: Utilizado exclusivamente para ESCRITURA binaria no destructiva en la plantilla oficial de ReSimple.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31920"/>
            <a:ext cx="5257800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411480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955B"/>
                </a:solidFill>
                <a:latin typeface="Arial"/>
              </a:defRPr>
            </a:pPr>
            <a:r>
              <a:t>GOBERNANZA Y PERSISTENCIA</a:t>
            </a:r>
          </a:p>
          <a:p>
            <a:pPr>
              <a:spcBef>
                <a:spcPts val="200"/>
              </a:spcBef>
              <a:defRPr sz="1200" b="1">
                <a:solidFill>
                  <a:srgbClr val="0F4C81"/>
                </a:solidFill>
                <a:latin typeface="Arial"/>
              </a:defRPr>
            </a:pPr>
            <a:r>
              <a:t>Multi-Tenant y Snapshots Temporales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• Multi-Tenant lógico por Razón Social ('razonSocialId').</a:t>
            </a:r>
            <a:br/>
            <a:r>
              <a:t>• Snapshots inmutables de auditoría ('razonSocialId::year::month').</a:t>
            </a:r>
            <a:br/>
            <a:r>
              <a:t>• Historial mensual congelado para fiscalizaciones SMA sin colisión de datos.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7566" y="856739"/>
            <a:ext cx="67475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2200" b="1">
                <a:solidFill>
                  <a:srgbClr val="0F4C81"/>
                </a:solidFill>
                <a:latin typeface="Arial"/>
              </a:defRPr>
            </a:pPr>
            <a:r>
              <a:rPr sz="2400" dirty="0" err="1"/>
              <a:t>Articulación</a:t>
            </a:r>
            <a:r>
              <a:rPr sz="2400" dirty="0"/>
              <a:t> con </a:t>
            </a:r>
            <a:r>
              <a:rPr sz="2400" dirty="0" err="1"/>
              <a:t>el</a:t>
            </a:r>
            <a:r>
              <a:rPr sz="2400" dirty="0"/>
              <a:t> </a:t>
            </a:r>
            <a:r>
              <a:rPr sz="2400" dirty="0" err="1"/>
              <a:t>Perfil</a:t>
            </a:r>
            <a:r>
              <a:rPr sz="2400" dirty="0"/>
              <a:t> de </a:t>
            </a:r>
            <a:r>
              <a:rPr sz="2400" dirty="0" err="1"/>
              <a:t>Egreso</a:t>
            </a:r>
            <a:r>
              <a:rPr sz="2400" dirty="0"/>
              <a:t> y Calidad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1783080"/>
            <a:ext cx="22311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4C81"/>
                </a:solidFill>
                <a:latin typeface="Arial"/>
              </a:defRPr>
            </a:pPr>
            <a:r>
              <a:t>1. Pruebas de Certificación</a:t>
            </a:r>
          </a:p>
          <a:p>
            <a:pPr>
              <a:spcBef>
                <a:spcPts val="200"/>
              </a:spcBef>
              <a:defRPr sz="900" b="1">
                <a:solidFill>
                  <a:srgbClr val="10955B"/>
                </a:solidFill>
                <a:latin typeface="Arial"/>
              </a:defRPr>
            </a:pPr>
            <a:r>
              <a:t>Estándares 1.1, 1.2 y 1.3</a:t>
            </a:r>
          </a:p>
          <a:p>
            <a:pPr>
              <a:spcBef>
                <a:spcPts val="800"/>
              </a:spcBef>
              <a:defRPr sz="850">
                <a:solidFill>
                  <a:srgbClr val="1E293B"/>
                </a:solidFill>
                <a:latin typeface="Arial"/>
              </a:defRPr>
            </a:pPr>
            <a:r>
              <a:t>• Diseño de matriz de pruebas de caja negra con ventas masivas reales.</a:t>
            </a:r>
            <a:br/>
            <a:r>
              <a:t>• Validación cruzada contra macro corporativa certificada: paridad 100% al 6° decimal.</a:t>
            </a:r>
            <a:br/>
            <a:r>
              <a:t>• Mejora correctiva: inversión de ratios en columnas '% No Domiciliario' (1 - pct).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645920"/>
            <a:ext cx="25603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21024" y="1783080"/>
            <a:ext cx="22311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4C81"/>
                </a:solidFill>
                <a:latin typeface="Arial"/>
              </a:defRPr>
            </a:pPr>
            <a:r>
              <a:t>2. Gestión de Proyectos</a:t>
            </a:r>
          </a:p>
          <a:p>
            <a:pPr>
              <a:spcBef>
                <a:spcPts val="200"/>
              </a:spcBef>
              <a:defRPr sz="900" b="1">
                <a:solidFill>
                  <a:srgbClr val="10955B"/>
                </a:solidFill>
                <a:latin typeface="Arial"/>
              </a:defRPr>
            </a:pPr>
            <a:r>
              <a:t>Estándares 2.1 y 2.2</a:t>
            </a:r>
          </a:p>
          <a:p>
            <a:pPr>
              <a:spcBef>
                <a:spcPts val="800"/>
              </a:spcBef>
              <a:defRPr sz="850">
                <a:solidFill>
                  <a:srgbClr val="1E293B"/>
                </a:solidFill>
                <a:latin typeface="Arial"/>
              </a:defRPr>
            </a:pPr>
            <a:r>
              <a:t>• Planificación mediante Metodología Escalativa de 4 escalones técnicos.</a:t>
            </a:r>
            <a:br/>
            <a:r>
              <a:t>• Control continuo del flujo de trabajo en equipo mediante tablero Kanban.</a:t>
            </a:r>
            <a:br/>
            <a:r>
              <a:t>• Gestión preventiva de riesgos regulatorios y control de deuda técnica en Git.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645920"/>
            <a:ext cx="25603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45936" y="1783080"/>
            <a:ext cx="22311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4C81"/>
                </a:solidFill>
                <a:latin typeface="Arial"/>
              </a:defRPr>
            </a:pPr>
            <a:r>
              <a:t>3. Modelos de Datos</a:t>
            </a:r>
          </a:p>
          <a:p>
            <a:pPr>
              <a:spcBef>
                <a:spcPts val="200"/>
              </a:spcBef>
              <a:defRPr sz="900" b="1">
                <a:solidFill>
                  <a:srgbClr val="10955B"/>
                </a:solidFill>
                <a:latin typeface="Arial"/>
              </a:defRPr>
            </a:pPr>
            <a:r>
              <a:t>Estándares 3.1 y 3.2</a:t>
            </a:r>
          </a:p>
          <a:p>
            <a:pPr>
              <a:spcBef>
                <a:spcPts val="800"/>
              </a:spcBef>
              <a:defRPr sz="850">
                <a:solidFill>
                  <a:srgbClr val="1E293B"/>
                </a:solidFill>
                <a:latin typeface="Arial"/>
              </a:defRPr>
            </a:pPr>
            <a:r>
              <a:t>• Diseño multi-tenant particionado por Razón Social con contratos tipados.</a:t>
            </a:r>
            <a:br/>
            <a:r>
              <a:t>• Implementación de interfaces TypeScript estandarizadas ('ProductSku', 'RepMatrixEntry').</a:t>
            </a:r>
            <a:br/>
            <a:r>
              <a:t>• Persistencia estructurada con snapshots temporales inmutables.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603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70848" y="1783080"/>
            <a:ext cx="22311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4C81"/>
                </a:solidFill>
                <a:latin typeface="Arial"/>
              </a:defRPr>
            </a:pPr>
            <a:r>
              <a:t>4. Solución de Software</a:t>
            </a:r>
          </a:p>
          <a:p>
            <a:pPr>
              <a:spcBef>
                <a:spcPts val="200"/>
              </a:spcBef>
              <a:defRPr sz="900" b="1">
                <a:solidFill>
                  <a:srgbClr val="10955B"/>
                </a:solidFill>
                <a:latin typeface="Arial"/>
              </a:defRPr>
            </a:pPr>
            <a:r>
              <a:t>Estándares 4.1, 4.2 y 4.3</a:t>
            </a:r>
          </a:p>
          <a:p>
            <a:pPr>
              <a:spcBef>
                <a:spcPts val="800"/>
              </a:spcBef>
              <a:defRPr sz="850">
                <a:solidFill>
                  <a:srgbClr val="1E293B"/>
                </a:solidFill>
                <a:latin typeface="Arial"/>
              </a:defRPr>
            </a:pPr>
            <a:r>
              <a:t>• Modularidad estricta y desacoplamiento entre motor de cálculo y presentación.</a:t>
            </a:r>
            <a:br/>
            <a:r>
              <a:t>• Integración de parsers, visualizadores de datos y generadores de archivos binarios.</a:t>
            </a:r>
            <a:br/>
            <a:r>
              <a:t>• Despliegue SPA en navegador verificado con 'npm run build' y cero fallos de tipos.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16249" y="930178"/>
            <a:ext cx="846626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2200" b="1">
                <a:solidFill>
                  <a:srgbClr val="0F4C81"/>
                </a:solidFill>
                <a:latin typeface="Arial"/>
              </a:defRPr>
            </a:pPr>
            <a:r>
              <a:rPr sz="2400" dirty="0" err="1"/>
              <a:t>Metodología</a:t>
            </a:r>
            <a:r>
              <a:rPr sz="2400" dirty="0"/>
              <a:t> de </a:t>
            </a:r>
            <a:r>
              <a:rPr sz="2400" dirty="0" err="1"/>
              <a:t>Trabajo</a:t>
            </a:r>
            <a:r>
              <a:rPr sz="2400" dirty="0"/>
              <a:t>: </a:t>
            </a:r>
            <a:r>
              <a:rPr sz="2400" dirty="0" err="1"/>
              <a:t>Enfoque</a:t>
            </a:r>
            <a:r>
              <a:rPr sz="2400" dirty="0"/>
              <a:t> </a:t>
            </a:r>
            <a:r>
              <a:rPr sz="2400" dirty="0" err="1"/>
              <a:t>Escalativo</a:t>
            </a:r>
            <a:r>
              <a:rPr sz="2400" dirty="0"/>
              <a:t> (Incremental)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55648"/>
            <a:ext cx="101800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4C81"/>
                </a:solidFill>
                <a:latin typeface="Arial"/>
              </a:defRPr>
            </a:pPr>
            <a:r>
              <a:t>Escalón 1: Core de Ingesta &amp; Parametrización   [Sem 1 — 4]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Modelado de catálogos técnicos por SKU, capas de material y parser de hojas de cálculo con detección dinámica de filas de cabecera.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10728655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898648"/>
            <a:ext cx="101800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4C81"/>
                </a:solidFill>
                <a:latin typeface="Arial"/>
              </a:defRPr>
            </a:pPr>
            <a:r>
              <a:t>Escalón 2: Motor de Negocio y Clasificación REP   [Sem 5 — 8]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Algoritmo 'calculateTonnage.ts', reglas de conversión logística (unidades/cajas/pallets) y prorrateo porcentual DOM vs. NO DOM.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041648"/>
            <a:ext cx="101800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4C81"/>
                </a:solidFill>
                <a:latin typeface="Arial"/>
              </a:defRPr>
            </a:pPr>
            <a:r>
              <a:t>Escalón 3: Integración Institucional &amp; Exportador   [Sem 9 — 12]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Inyección quirúrgica con ExcelJS, normalización taxonómica ('normalizeMatchKey') y resolución de desalineaciones verticales ReSimple.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10728655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184648"/>
            <a:ext cx="101800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4C81"/>
                </a:solidFill>
                <a:latin typeface="Arial"/>
              </a:defRPr>
            </a:pPr>
            <a:r>
              <a:t>Escalón 4: Escalabilidad Enterprise, QA y Dashboard   [Sem 13 — 18]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Validación cruzada contra macros, rediseño de Dashboard corporativo, preparación para base de datos y defensa de título.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65E27E5-58B3-4D84-9456-AF29315D1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32" y="1919036"/>
            <a:ext cx="4819914" cy="301992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CE121C4-4708-4325-8ACF-834C9AE16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19036"/>
            <a:ext cx="5030430" cy="301992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7755D64-7C1D-4FBD-AB26-813BA8A6CB04}"/>
              </a:ext>
            </a:extLst>
          </p:cNvPr>
          <p:cNvSpPr txBox="1"/>
          <p:nvPr/>
        </p:nvSpPr>
        <p:spPr>
          <a:xfrm>
            <a:off x="4473388" y="1017901"/>
            <a:ext cx="4819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  <a:defRPr sz="2200" b="1">
                <a:solidFill>
                  <a:srgbClr val="0F4C81"/>
                </a:solidFill>
                <a:latin typeface="Arial"/>
              </a:defRPr>
            </a:pPr>
            <a:r>
              <a:rPr lang="es-ES" sz="2400" dirty="0"/>
              <a:t>Mockups - </a:t>
            </a:r>
            <a:r>
              <a:rPr lang="es-ES" sz="2400" dirty="0" err="1"/>
              <a:t>Login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913029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082B23-5E44-49EE-BB98-10306F974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3324" y="654451"/>
            <a:ext cx="5051610" cy="1303867"/>
          </a:xfrm>
        </p:spPr>
        <p:txBody>
          <a:bodyPr>
            <a:normAutofit/>
          </a:bodyPr>
          <a:lstStyle/>
          <a:p>
            <a:r>
              <a:rPr lang="es-ES" sz="2400" b="1" dirty="0">
                <a:solidFill>
                  <a:srgbClr val="0F4C81"/>
                </a:solidFill>
                <a:latin typeface="Arial"/>
                <a:ea typeface="+mn-ea"/>
                <a:cs typeface="+mn-cs"/>
              </a:rPr>
              <a:t>Mockups</a:t>
            </a:r>
            <a:r>
              <a:rPr lang="es-ES" sz="3600" dirty="0"/>
              <a:t> </a:t>
            </a:r>
            <a:r>
              <a:rPr lang="es-ES" sz="2400" b="1" dirty="0">
                <a:solidFill>
                  <a:srgbClr val="0F4C81"/>
                </a:solidFill>
                <a:latin typeface="Arial"/>
                <a:ea typeface="+mn-ea"/>
                <a:cs typeface="+mn-cs"/>
              </a:rPr>
              <a:t>–</a:t>
            </a:r>
            <a:r>
              <a:rPr lang="es-ES" sz="3600" dirty="0"/>
              <a:t> </a:t>
            </a:r>
            <a:r>
              <a:rPr lang="es-ES" sz="2400" b="1" dirty="0">
                <a:solidFill>
                  <a:srgbClr val="0F4C81"/>
                </a:solidFill>
                <a:latin typeface="Arial"/>
                <a:ea typeface="+mn-ea"/>
                <a:cs typeface="+mn-cs"/>
              </a:rPr>
              <a:t>Interfaz</a:t>
            </a:r>
            <a:r>
              <a:rPr lang="es-ES" sz="3600" dirty="0"/>
              <a:t> </a:t>
            </a:r>
            <a:r>
              <a:rPr lang="es-ES" sz="2400" b="1" dirty="0">
                <a:solidFill>
                  <a:srgbClr val="0F4C81"/>
                </a:solidFill>
                <a:latin typeface="Arial"/>
                <a:ea typeface="+mn-ea"/>
                <a:cs typeface="+mn-cs"/>
              </a:rPr>
              <a:t>Principal</a:t>
            </a:r>
            <a:endParaRPr lang="es-CL" sz="2400" b="1" dirty="0">
              <a:solidFill>
                <a:srgbClr val="0F4C81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5A42062-380C-4DF6-8061-307707462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329" y="1958318"/>
            <a:ext cx="8229600" cy="426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122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E26127B-0CBE-499F-8C23-796EFC1D1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6395" y="549057"/>
            <a:ext cx="4899210" cy="1303867"/>
          </a:xfrm>
        </p:spPr>
        <p:txBody>
          <a:bodyPr>
            <a:normAutofit/>
          </a:bodyPr>
          <a:lstStyle/>
          <a:p>
            <a:r>
              <a:rPr lang="es-ES" sz="2400" b="1" dirty="0">
                <a:solidFill>
                  <a:srgbClr val="0F4C81"/>
                </a:solidFill>
                <a:latin typeface="Arial"/>
                <a:ea typeface="+mn-ea"/>
                <a:cs typeface="+mn-cs"/>
              </a:rPr>
              <a:t>Mockups</a:t>
            </a:r>
            <a:r>
              <a:rPr lang="es-ES" sz="3600" dirty="0"/>
              <a:t> </a:t>
            </a:r>
            <a:r>
              <a:rPr lang="es-ES" sz="2400" b="1" dirty="0">
                <a:solidFill>
                  <a:srgbClr val="0F4C81"/>
                </a:solidFill>
                <a:latin typeface="Arial"/>
                <a:ea typeface="+mn-ea"/>
                <a:cs typeface="+mn-cs"/>
              </a:rPr>
              <a:t>–</a:t>
            </a:r>
            <a:r>
              <a:rPr lang="es-ES" sz="3600" dirty="0"/>
              <a:t> </a:t>
            </a:r>
            <a:r>
              <a:rPr lang="es-ES" sz="2400" b="1" dirty="0">
                <a:solidFill>
                  <a:srgbClr val="0F4C81"/>
                </a:solidFill>
                <a:latin typeface="Arial"/>
                <a:ea typeface="+mn-ea"/>
                <a:cs typeface="+mn-cs"/>
              </a:rPr>
              <a:t>Modulo de Calculo</a:t>
            </a:r>
            <a:endParaRPr lang="es-CL" sz="2400" b="1" dirty="0">
              <a:solidFill>
                <a:srgbClr val="0F4C81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DBD9AD-7FBD-42DA-A9E4-173E94539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976" y="1803121"/>
            <a:ext cx="9341223" cy="434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78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927DC8E8-16BC-40F7-9636-40F6F48C4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2446" y="274638"/>
            <a:ext cx="5244353" cy="1143000"/>
          </a:xfrm>
        </p:spPr>
        <p:txBody>
          <a:bodyPr>
            <a:normAutofit/>
          </a:bodyPr>
          <a:lstStyle/>
          <a:p>
            <a:pPr algn="l"/>
            <a:r>
              <a:rPr lang="es-ES" sz="2400" b="1" dirty="0">
                <a:solidFill>
                  <a:srgbClr val="0F4C81"/>
                </a:solidFill>
                <a:latin typeface="Arial"/>
                <a:ea typeface="+mn-ea"/>
                <a:cs typeface="+mn-cs"/>
              </a:rPr>
              <a:t>Mockups</a:t>
            </a:r>
            <a:r>
              <a:rPr lang="es-ES" sz="3600" dirty="0"/>
              <a:t> </a:t>
            </a:r>
            <a:r>
              <a:rPr lang="es-ES" sz="2400" b="1" dirty="0">
                <a:solidFill>
                  <a:srgbClr val="0F4C81"/>
                </a:solidFill>
                <a:latin typeface="Arial"/>
                <a:ea typeface="+mn-ea"/>
                <a:cs typeface="+mn-cs"/>
              </a:rPr>
              <a:t>–</a:t>
            </a:r>
            <a:r>
              <a:rPr lang="es-ES" sz="3600" dirty="0"/>
              <a:t> </a:t>
            </a:r>
            <a:r>
              <a:rPr lang="es-ES" sz="2400" b="1" dirty="0">
                <a:solidFill>
                  <a:srgbClr val="0F4C81"/>
                </a:solidFill>
                <a:latin typeface="Arial"/>
                <a:ea typeface="+mn-ea"/>
                <a:cs typeface="+mn-cs"/>
              </a:rPr>
              <a:t>Modulo Visualización</a:t>
            </a:r>
            <a:endParaRPr lang="es-CL" sz="2400" b="1" dirty="0">
              <a:solidFill>
                <a:srgbClr val="0F4C81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AA1E3F1-EDC0-4AE9-BA30-C7D043D47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063" y="1145949"/>
            <a:ext cx="6648320" cy="265888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F1177D7-A114-4B39-9269-497BD6055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537" y="3924478"/>
            <a:ext cx="7972926" cy="230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079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A5458D4-EA38-4968-9AF2-50985FE4B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152" y="1809394"/>
            <a:ext cx="7915695" cy="183614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7CBDBBF-1B7E-4811-9D73-04F03E08F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152" y="3645540"/>
            <a:ext cx="7616172" cy="2486319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8FBFA26F-6A2A-4025-927F-71E581F26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1788" y="274638"/>
            <a:ext cx="6096000" cy="1143000"/>
          </a:xfrm>
        </p:spPr>
        <p:txBody>
          <a:bodyPr>
            <a:normAutofit/>
          </a:bodyPr>
          <a:lstStyle/>
          <a:p>
            <a:r>
              <a:rPr lang="es-ES" sz="2400" b="1" dirty="0">
                <a:solidFill>
                  <a:srgbClr val="0F4C81"/>
                </a:solidFill>
                <a:latin typeface="Arial"/>
                <a:ea typeface="+mn-ea"/>
                <a:cs typeface="+mn-cs"/>
              </a:rPr>
              <a:t>Mockups</a:t>
            </a:r>
            <a:r>
              <a:rPr lang="es-ES" sz="3600" dirty="0"/>
              <a:t> </a:t>
            </a:r>
            <a:r>
              <a:rPr lang="es-ES" sz="2400" b="1" dirty="0">
                <a:solidFill>
                  <a:srgbClr val="0F4C81"/>
                </a:solidFill>
                <a:latin typeface="Arial"/>
                <a:ea typeface="+mn-ea"/>
                <a:cs typeface="+mn-cs"/>
              </a:rPr>
              <a:t>–</a:t>
            </a:r>
            <a:r>
              <a:rPr lang="es-ES" sz="3600" dirty="0"/>
              <a:t> </a:t>
            </a:r>
            <a:r>
              <a:rPr lang="es-ES" sz="2400" b="1" dirty="0">
                <a:solidFill>
                  <a:srgbClr val="0F4C81"/>
                </a:solidFill>
                <a:latin typeface="Arial"/>
                <a:ea typeface="+mn-ea"/>
                <a:cs typeface="+mn-cs"/>
              </a:rPr>
              <a:t>Modulo Gestión De usuario</a:t>
            </a:r>
            <a:endParaRPr lang="es-CL" sz="2400" b="1" dirty="0">
              <a:solidFill>
                <a:srgbClr val="0F4C81"/>
              </a:solidFill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6151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FD7F49A-07B9-40DA-BBD4-4D8298B46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812" y="274638"/>
            <a:ext cx="5844988" cy="1143000"/>
          </a:xfrm>
        </p:spPr>
        <p:txBody>
          <a:bodyPr>
            <a:normAutofit/>
          </a:bodyPr>
          <a:lstStyle/>
          <a:p>
            <a:r>
              <a:rPr lang="es-ES" sz="2400" b="1" dirty="0">
                <a:solidFill>
                  <a:srgbClr val="0F4C81"/>
                </a:solidFill>
                <a:latin typeface="Arial"/>
                <a:ea typeface="+mn-ea"/>
                <a:cs typeface="+mn-cs"/>
              </a:rPr>
              <a:t>Mockups</a:t>
            </a:r>
            <a:r>
              <a:rPr lang="es-ES" sz="3600" dirty="0"/>
              <a:t> </a:t>
            </a:r>
            <a:r>
              <a:rPr lang="es-ES" sz="2400" b="1" dirty="0">
                <a:solidFill>
                  <a:srgbClr val="0F4C81"/>
                </a:solidFill>
                <a:latin typeface="Arial"/>
                <a:ea typeface="+mn-ea"/>
                <a:cs typeface="+mn-cs"/>
              </a:rPr>
              <a:t>–</a:t>
            </a:r>
            <a:r>
              <a:rPr lang="es-ES" sz="3600" dirty="0"/>
              <a:t> </a:t>
            </a:r>
            <a:r>
              <a:rPr lang="es-ES" sz="2400" b="1" dirty="0">
                <a:solidFill>
                  <a:srgbClr val="0F4C81"/>
                </a:solidFill>
                <a:latin typeface="Arial"/>
                <a:ea typeface="+mn-ea"/>
                <a:cs typeface="+mn-cs"/>
              </a:rPr>
              <a:t>Modulo Configuración</a:t>
            </a:r>
            <a:endParaRPr lang="es-CL" sz="2400" b="1" dirty="0">
              <a:solidFill>
                <a:srgbClr val="0F4C81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922A329-58EA-4CC0-9717-9EE552A28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834" y="1655850"/>
            <a:ext cx="6892196" cy="380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584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9742" y="738380"/>
            <a:ext cx="718969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2200" b="1">
                <a:solidFill>
                  <a:srgbClr val="0F4C81"/>
                </a:solidFill>
                <a:latin typeface="Arial"/>
              </a:defRPr>
            </a:pPr>
            <a:r>
              <a:rPr sz="2400" dirty="0" err="1"/>
              <a:t>Organización</a:t>
            </a:r>
            <a:r>
              <a:rPr sz="2400" dirty="0"/>
              <a:t> del </a:t>
            </a:r>
            <a:r>
              <a:rPr sz="2400" dirty="0" err="1"/>
              <a:t>Equipo</a:t>
            </a:r>
            <a:r>
              <a:rPr sz="2400" dirty="0"/>
              <a:t>, Roles y Plan de </a:t>
            </a:r>
            <a:r>
              <a:rPr sz="2400" dirty="0" err="1"/>
              <a:t>Trabajo</a:t>
            </a:r>
            <a:endParaRPr sz="2400" dirty="0"/>
          </a:p>
        </p:txBody>
      </p:sp>
      <p:sp>
        <p:nvSpPr>
          <p:cNvPr id="3" name="Rounded Rectangle 2"/>
          <p:cNvSpPr/>
          <p:nvPr/>
        </p:nvSpPr>
        <p:spPr>
          <a:xfrm>
            <a:off x="731826" y="2094155"/>
            <a:ext cx="5257800" cy="3291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6145" y="2709629"/>
            <a:ext cx="4709160" cy="1164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4C81"/>
                </a:solidFill>
                <a:latin typeface="Arial"/>
              </a:defRPr>
            </a:pPr>
            <a:r>
              <a:rPr dirty="0"/>
              <a:t>Fernando </a:t>
            </a:r>
            <a:r>
              <a:rPr lang="es-ES" dirty="0" err="1"/>
              <a:t>Casonis</a:t>
            </a:r>
            <a:r>
              <a:rPr dirty="0"/>
              <a:t>— </a:t>
            </a:r>
            <a:r>
              <a:rPr dirty="0" err="1"/>
              <a:t>Líder</a:t>
            </a:r>
            <a:r>
              <a:rPr dirty="0"/>
              <a:t> Técnico &amp; Core Engine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Arquitectura</a:t>
            </a:r>
            <a:r>
              <a:rPr dirty="0"/>
              <a:t> global del </a:t>
            </a:r>
            <a:r>
              <a:rPr dirty="0" err="1"/>
              <a:t>sistema</a:t>
            </a:r>
            <a:r>
              <a:rPr dirty="0"/>
              <a:t> y </a:t>
            </a:r>
            <a:r>
              <a:rPr dirty="0" err="1"/>
              <a:t>tipado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TypeScript.</a:t>
            </a:r>
            <a:br>
              <a:rPr dirty="0"/>
            </a:br>
            <a:r>
              <a:rPr dirty="0"/>
              <a:t>• Desarrollo del motor </a:t>
            </a:r>
            <a:r>
              <a:rPr dirty="0" err="1"/>
              <a:t>analítico</a:t>
            </a:r>
            <a:r>
              <a:rPr dirty="0"/>
              <a:t> '</a:t>
            </a:r>
            <a:r>
              <a:rPr dirty="0" err="1"/>
              <a:t>calculateTonnage.ts</a:t>
            </a:r>
            <a:r>
              <a:rPr dirty="0"/>
              <a:t>'.</a:t>
            </a:r>
            <a:br>
              <a:rPr dirty="0"/>
            </a:br>
            <a:r>
              <a:rPr dirty="0"/>
              <a:t>• </a:t>
            </a:r>
            <a:r>
              <a:rPr dirty="0" err="1"/>
              <a:t>Programación</a:t>
            </a:r>
            <a:r>
              <a:rPr dirty="0"/>
              <a:t> del </a:t>
            </a:r>
            <a:r>
              <a:rPr dirty="0" err="1"/>
              <a:t>exportador</a:t>
            </a:r>
            <a:r>
              <a:rPr dirty="0"/>
              <a:t> </a:t>
            </a:r>
            <a:r>
              <a:rPr dirty="0" err="1"/>
              <a:t>binario</a:t>
            </a:r>
            <a:r>
              <a:rPr dirty="0"/>
              <a:t> con </a:t>
            </a:r>
            <a:r>
              <a:rPr dirty="0" err="1"/>
              <a:t>ExcelJS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Normalización</a:t>
            </a:r>
            <a:r>
              <a:rPr dirty="0"/>
              <a:t> </a:t>
            </a:r>
            <a:r>
              <a:rPr dirty="0" err="1"/>
              <a:t>taxonómica</a:t>
            </a:r>
            <a:r>
              <a:rPr dirty="0"/>
              <a:t> </a:t>
            </a:r>
            <a:r>
              <a:rPr dirty="0" err="1"/>
              <a:t>difusa</a:t>
            </a:r>
            <a:r>
              <a:rPr dirty="0"/>
              <a:t> ('</a:t>
            </a:r>
            <a:r>
              <a:rPr dirty="0" err="1"/>
              <a:t>resimpleTemplateMatching.ts</a:t>
            </a:r>
            <a:r>
              <a:rPr dirty="0"/>
              <a:t>').</a:t>
            </a:r>
            <a:br>
              <a:rPr dirty="0"/>
            </a:br>
            <a:r>
              <a:rPr dirty="0"/>
              <a:t>• </a:t>
            </a:r>
            <a:r>
              <a:rPr dirty="0" err="1"/>
              <a:t>Resolución</a:t>
            </a:r>
            <a:r>
              <a:rPr dirty="0"/>
              <a:t> de </a:t>
            </a:r>
            <a:r>
              <a:rPr dirty="0" err="1"/>
              <a:t>registros</a:t>
            </a:r>
            <a:r>
              <a:rPr dirty="0"/>
              <a:t> </a:t>
            </a:r>
            <a:r>
              <a:rPr dirty="0" err="1"/>
              <a:t>independientes</a:t>
            </a:r>
            <a:r>
              <a:rPr dirty="0"/>
              <a:t> DOM / NO DOM.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0" y="2094155"/>
            <a:ext cx="5257800" cy="3291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76695" y="2709629"/>
            <a:ext cx="4709160" cy="1164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4C81"/>
                </a:solidFill>
                <a:latin typeface="Arial"/>
              </a:defRPr>
            </a:pPr>
            <a:r>
              <a:rPr lang="es-CL" dirty="0" err="1"/>
              <a:t>Matias</a:t>
            </a:r>
            <a:r>
              <a:rPr lang="es-CL" dirty="0"/>
              <a:t> Machuca—</a:t>
            </a:r>
            <a:r>
              <a:rPr dirty="0"/>
              <a:t> Frontend &amp; QA Engineer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Implementación</a:t>
            </a:r>
            <a:r>
              <a:rPr dirty="0"/>
              <a:t> de vistas e interfaces </a:t>
            </a:r>
            <a:r>
              <a:rPr dirty="0" err="1"/>
              <a:t>modulares</a:t>
            </a:r>
            <a:r>
              <a:rPr dirty="0"/>
              <a:t> con Tailwind CSS.</a:t>
            </a:r>
            <a:br>
              <a:rPr dirty="0"/>
            </a:br>
            <a:r>
              <a:rPr dirty="0"/>
              <a:t>•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tablas</a:t>
            </a:r>
            <a:r>
              <a:rPr dirty="0"/>
              <a:t> </a:t>
            </a:r>
            <a:r>
              <a:rPr dirty="0" err="1"/>
              <a:t>dinámicas</a:t>
            </a:r>
            <a:r>
              <a:rPr dirty="0"/>
              <a:t> y </a:t>
            </a:r>
            <a:r>
              <a:rPr dirty="0" err="1"/>
              <a:t>paginación</a:t>
            </a:r>
            <a:r>
              <a:rPr dirty="0"/>
              <a:t> con </a:t>
            </a:r>
            <a:r>
              <a:rPr dirty="0" err="1"/>
              <a:t>TanStack</a:t>
            </a:r>
            <a:r>
              <a:rPr dirty="0"/>
              <a:t> Table.</a:t>
            </a:r>
            <a:br>
              <a:rPr dirty="0"/>
            </a:br>
            <a:r>
              <a:rPr dirty="0"/>
              <a:t>• </a:t>
            </a:r>
            <a:r>
              <a:rPr dirty="0" err="1"/>
              <a:t>Diseño</a:t>
            </a:r>
            <a:r>
              <a:rPr dirty="0"/>
              <a:t> y </a:t>
            </a:r>
            <a:r>
              <a:rPr dirty="0" err="1"/>
              <a:t>ejecución</a:t>
            </a:r>
            <a:r>
              <a:rPr dirty="0"/>
              <a:t> de matrices de </a:t>
            </a:r>
            <a:r>
              <a:rPr dirty="0" err="1"/>
              <a:t>prueba</a:t>
            </a:r>
            <a:r>
              <a:rPr dirty="0"/>
              <a:t> de </a:t>
            </a:r>
            <a:r>
              <a:rPr dirty="0" err="1"/>
              <a:t>caja</a:t>
            </a:r>
            <a:r>
              <a:rPr dirty="0"/>
              <a:t> </a:t>
            </a:r>
            <a:r>
              <a:rPr dirty="0" err="1"/>
              <a:t>negra</a:t>
            </a:r>
            <a:r>
              <a:rPr dirty="0"/>
              <a:t> (QA).</a:t>
            </a:r>
            <a:br>
              <a:rPr dirty="0"/>
            </a:br>
            <a:r>
              <a:rPr dirty="0"/>
              <a:t>• </a:t>
            </a:r>
            <a:r>
              <a:rPr dirty="0" err="1"/>
              <a:t>Validación</a:t>
            </a:r>
            <a:r>
              <a:rPr dirty="0"/>
              <a:t> y carga de datasets </a:t>
            </a:r>
            <a:r>
              <a:rPr dirty="0" err="1"/>
              <a:t>corporativos</a:t>
            </a:r>
            <a:r>
              <a:rPr dirty="0"/>
              <a:t> de </a:t>
            </a:r>
            <a:r>
              <a:rPr dirty="0" err="1"/>
              <a:t>prueba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Verificación</a:t>
            </a:r>
            <a:r>
              <a:rPr dirty="0"/>
              <a:t> de </a:t>
            </a:r>
            <a:r>
              <a:rPr dirty="0" err="1"/>
              <a:t>accesibilidad</a:t>
            </a:r>
            <a:r>
              <a:rPr dirty="0"/>
              <a:t> y </a:t>
            </a:r>
            <a:r>
              <a:rPr dirty="0" err="1"/>
              <a:t>experiencia</a:t>
            </a:r>
            <a:r>
              <a:rPr dirty="0"/>
              <a:t> de </a:t>
            </a:r>
            <a:r>
              <a:rPr dirty="0" err="1"/>
              <a:t>usuario</a:t>
            </a:r>
            <a:r>
              <a:rPr dirty="0"/>
              <a:t> B2B.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75724" y="957431"/>
            <a:ext cx="644024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2200" b="1">
                <a:solidFill>
                  <a:srgbClr val="0F4C81"/>
                </a:solidFill>
                <a:latin typeface="Arial"/>
              </a:defRPr>
            </a:pPr>
            <a:r>
              <a:rPr dirty="0" err="1"/>
              <a:t>Factibilidad</a:t>
            </a:r>
            <a:r>
              <a:rPr dirty="0"/>
              <a:t>, </a:t>
            </a:r>
            <a:r>
              <a:rPr dirty="0" err="1"/>
              <a:t>Mitigación</a:t>
            </a:r>
            <a:r>
              <a:rPr dirty="0"/>
              <a:t> de </a:t>
            </a:r>
            <a:r>
              <a:rPr dirty="0" err="1"/>
              <a:t>Riesgos</a:t>
            </a:r>
            <a:r>
              <a:rPr dirty="0"/>
              <a:t> y QA Real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13455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29562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4C81"/>
                </a:solidFill>
                <a:latin typeface="Arial"/>
              </a:defRPr>
            </a:pPr>
            <a:r>
              <a:t>Datos Reales de Validación (Mayo 2026)</a:t>
            </a:r>
          </a:p>
          <a:p>
            <a:pPr>
              <a:spcBef>
                <a:spcPts val="400"/>
              </a:spcBef>
              <a:defRPr sz="1050" b="1">
                <a:solidFill>
                  <a:srgbClr val="10955B"/>
                </a:solidFill>
                <a:latin typeface="Arial"/>
              </a:defRPr>
            </a:pPr>
            <a:r>
              <a:t>Validación Cruzada Certificada</a:t>
            </a:r>
          </a:p>
          <a:p>
            <a:pPr>
              <a:spcBef>
                <a:spcPts val="10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• Datasets reales de ventas (empresa Prinorte).</a:t>
            </a:r>
            <a:br/>
            <a:r>
              <a:t>• Resultado del motor: Madera No Dom = 3.685 ton; Papel/Cartón Dom = 1.509 ton; No Dom = 0.784 ton.</a:t>
            </a:r>
            <a:br/>
            <a:r>
              <a:t>• Paridad matemática del 100% frente a la macro corporativa de auditoría.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720" y="1874519"/>
            <a:ext cx="29562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4C81"/>
                </a:solidFill>
                <a:latin typeface="Arial"/>
              </a:defRPr>
            </a:pPr>
            <a:r>
              <a:t>Mitigación de Plantilla ReSimple</a:t>
            </a:r>
          </a:p>
          <a:p>
            <a:pPr>
              <a:spcBef>
                <a:spcPts val="400"/>
              </a:spcBef>
              <a:defRPr sz="1050" b="1">
                <a:solidFill>
                  <a:srgbClr val="10955B"/>
                </a:solidFill>
                <a:latin typeface="Arial"/>
              </a:defRPr>
            </a:pPr>
            <a:r>
              <a:t>Normalización Taxonómica Difusa</a:t>
            </a:r>
          </a:p>
          <a:p>
            <a:pPr>
              <a:spcBef>
                <a:spcPts val="10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• Problema: La plantilla oficial 2025/2026 tiene filas DOM y NO DOM desalineadas verticalmente.</a:t>
            </a:r>
            <a:br/>
            <a:r>
              <a:t>• Solución: Creación de dos registros de índices independientes ('domIndexRegistry' y 'noDomIndexRegistry') y traductor taxonómico (Madera -&gt; OTROS).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13455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874519"/>
            <a:ext cx="29562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4C81"/>
                </a:solidFill>
                <a:latin typeface="Arial"/>
              </a:defRPr>
            </a:pPr>
            <a:r>
              <a:t>Factibilidad Semestral</a:t>
            </a:r>
          </a:p>
          <a:p>
            <a:pPr>
              <a:spcBef>
                <a:spcPts val="400"/>
              </a:spcBef>
              <a:defRPr sz="1050" b="1">
                <a:solidFill>
                  <a:srgbClr val="10955B"/>
                </a:solidFill>
                <a:latin typeface="Arial"/>
              </a:defRPr>
            </a:pPr>
            <a:r>
              <a:t>Recursos y Tiempos Acotados</a:t>
            </a:r>
          </a:p>
          <a:p>
            <a:pPr>
              <a:spcBef>
                <a:spcPts val="10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• El stack React 19/Vite permite compilación en milisegundos y feedback inmediato.</a:t>
            </a:r>
            <a:br/>
            <a:r>
              <a:t>• La persistencia local desacoplada permite probar cálculos sin depender de servidores en fases tempranas.</a:t>
            </a:r>
            <a:br/>
            <a:r>
              <a:t>• Metodología orientada a entregables verificables cada 2 semanas.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3285" y="3088652"/>
            <a:ext cx="10728655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400"/>
              </a:spcBef>
              <a:defRPr sz="2200" b="1">
                <a:solidFill>
                  <a:srgbClr val="0F4C81"/>
                </a:solidFill>
                <a:latin typeface="Arial"/>
              </a:defRPr>
            </a:pPr>
            <a:r>
              <a:rPr lang="en-US" sz="3600" dirty="0"/>
              <a:t>CONCLUSIONES Y REFLEXIONES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TM02900743[[fn=Orgánico]]</Template>
  <TotalTime>25</TotalTime>
  <Words>1177</Words>
  <Application>Microsoft Office PowerPoint</Application>
  <PresentationFormat>Panorámica</PresentationFormat>
  <Paragraphs>79</Paragraphs>
  <Slides>15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Aptos</vt:lpstr>
      <vt:lpstr>Arial</vt:lpstr>
      <vt:lpstr>Garamond</vt:lpstr>
      <vt:lpstr>Orgánico</vt:lpstr>
      <vt:lpstr> Sinarep  Cuantificación de Materialidades y Declaración Ley REP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Mockups – Interfaz Principal</vt:lpstr>
      <vt:lpstr>Mockups – Modulo de Calculo</vt:lpstr>
      <vt:lpstr>Mockups – Modulo Visualización</vt:lpstr>
      <vt:lpstr>Mockups – Modulo Gestión De usuario</vt:lpstr>
      <vt:lpstr>Mockups – Modulo Configuración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PO- Alumno</cp:lastModifiedBy>
  <cp:revision>7</cp:revision>
  <dcterms:created xsi:type="dcterms:W3CDTF">2013-01-27T09:14:16Z</dcterms:created>
  <dcterms:modified xsi:type="dcterms:W3CDTF">2026-09-10T18:16:12Z</dcterms:modified>
  <cp:category/>
</cp:coreProperties>
</file>