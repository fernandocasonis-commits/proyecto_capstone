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2084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Estimado profesor y compañeros: hoy presentamos la definición de nuestro Proyecto APT para la asignatura Capstone. El proyecto consiste en una plataforma SaaS B2B de misión crítica desarrollada para resolver la cuantificación, prorrateo y declaración oficial de la Ley REP en Chile. A lo largo de esta presentación demostraremos cómo nuestra propuesta cumple con el 100% de los indicadores de la rúbrica formativa y los estándares disciplinarios de la carrera.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problema que abordamos es de alta urgencia empresarial. Con la plena vigencia de la Ley 20.920, las empresas están obligadas a informar tonelajes exactos. Hoy los ERPs convencionales no tienen módulos para despiece en capas de embalaje ni cálculo de factores logísticos. Las planillas manuales son vulnerables a errores, y una declaración equivocada ante ReSimple expone a las empresas a multas de hasta 10.000 UTA por parte de la SMA.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Nuestra solución es una SPA web B2B de cuatro etapas integradas: Primero, estructuramos un catálogo multi-empresa con fichas técnicas por capa. Segundo, leemos las ventas reales de clientes mediante un parser dinámico. Tercero, ejecutamos un cálculo estricto con conversión de gramos a toneladas y prorrateo DOM/NO DOM. Cuarto, generamos el archivo oficial ReSimple mediante inyección binaria, entregando un Excel oficial listo para firma.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Desde la perspectiva de arquitectura, destacamos tres decisiones clave: 1. Tipado estricto en TypeScript para eliminar bugs en tiempo de ejecución. 2. Separación de librerías Excel: SheetJS para leer datos sucios y ExcelJS para mutar celdas a nivel de buffer binario sin destruir el XML de la plantilla. 3. Estructura de snapshots inmutables: cada cálculo mensual se guarda como un registro histórico inalterable.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proyecto cubre el 100% de los indicadores de calidad del perfil de egreso: En Pruebas, validamos nuestro algoritmo contra macros reales de Mayo 2026 obteniendo concordancia exacta. En Gestión, usamos metodología escalativa. En Modelos de Datos, implementamos aislamiento multi-tenant. Y en Software, desarrollamos una SPA desacoplada con TypeScript estricto.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Elegimos una Metodología Escalativa porque cada nivel entrega un incremento funcional estable: No intentamos hacer la exportación a ReSimple sin antes haber validado la ingesta de datos y el motor de cálculo. Este enfoque minimiza riesgos y asegura que cada escalón sirva de base sólida para el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 cuanto a la colaboración, el trabajo se encuentra balanceado: Fernando lidera la arquitectura técnica, el motor de cálculo y la inyección ExcelJS; mientras que mi compañero lidera la experiencia de usuario, componentes UI y el diseño de matrices de QA. Utilizamos Git Flow con Pull Requests obligatorios y sincronización ágil semanal.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factibilidad no es teórica: ya contamos con evidencia empírica. Sometimos nuestro sistema a las ventas reales de Mayo 2026 y obtuvimos paridad decimal exacta frente a la macro oficial. Además, resolvimos la desalineación interna de ReSimple creando índices independientes para DOM y NO 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 conclude our presentation in English: This Capstone project proves that modern software engineering can effectively solve complex environmental compliance challenges. By combining strict TypeScript typing, deterministic calculations, and non-destructive Excel manipulation, we deliver a reliable, enterprise-grade B2B SaaS platform. Thank you very much. We are now open to any questions from the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8495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600" b="1">
                <a:solidFill>
                  <a:srgbClr val="FFFFFF"/>
                </a:solidFill>
                <a:latin typeface="Arial"/>
              </a:defRPr>
            </a:pPr>
            <a:r>
              <a:rPr dirty="0"/>
              <a:t>Plataforma SaaS B2B para la </a:t>
            </a:r>
            <a:r>
              <a:rPr dirty="0" err="1"/>
              <a:t>Gestión</a:t>
            </a:r>
            <a:r>
              <a:rPr dirty="0"/>
              <a:t> </a:t>
            </a:r>
            <a:r>
              <a:rPr dirty="0" err="1"/>
              <a:t>Logística</a:t>
            </a:r>
            <a:r>
              <a:rPr dirty="0"/>
              <a:t>,</a:t>
            </a:r>
            <a:br>
              <a:rPr dirty="0"/>
            </a:br>
            <a:r>
              <a:rPr dirty="0" err="1"/>
              <a:t>Cuantificación</a:t>
            </a:r>
            <a:r>
              <a:rPr dirty="0"/>
              <a:t> de </a:t>
            </a:r>
            <a:r>
              <a:rPr dirty="0" err="1"/>
              <a:t>Materialidades</a:t>
            </a:r>
            <a:r>
              <a:rPr dirty="0"/>
              <a:t> y </a:t>
            </a:r>
            <a:r>
              <a:rPr dirty="0" err="1"/>
              <a:t>Declaración</a:t>
            </a:r>
            <a:r>
              <a:rPr dirty="0"/>
              <a:t> Ley REP</a:t>
            </a:r>
          </a:p>
          <a:p>
            <a:pPr>
              <a:spcBef>
                <a:spcPts val="3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rPr dirty="0" err="1"/>
              <a:t>Integrantes</a:t>
            </a:r>
            <a:r>
              <a:rPr dirty="0"/>
              <a:t>: Fernando (</a:t>
            </a:r>
            <a:r>
              <a:rPr dirty="0" err="1"/>
              <a:t>Líder</a:t>
            </a:r>
            <a:r>
              <a:rPr dirty="0"/>
              <a:t> Técnico &amp; Core Engine) &amp; </a:t>
            </a:r>
            <a:r>
              <a:rPr lang="es-CL" dirty="0"/>
              <a:t>Matias Machuca</a:t>
            </a:r>
            <a:r>
              <a:rPr dirty="0"/>
              <a:t>(Frontend &amp; QA)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INDICADOR 1 — RELEVANCIA LABORAL (10%)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Contexto Normativo y Problemática del Negocio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13455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74519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4C81"/>
                </a:solidFill>
                <a:latin typeface="Arial"/>
              </a:defRPr>
            </a:pPr>
            <a:r>
              <a:t>Marco Normativo Ley REP</a:t>
            </a:r>
          </a:p>
          <a:p>
            <a:pPr>
              <a:spcBef>
                <a:spcPts val="400"/>
              </a:spcBef>
              <a:defRPr sz="1100" b="1">
                <a:solidFill>
                  <a:srgbClr val="10955B"/>
                </a:solidFill>
                <a:latin typeface="Arial"/>
              </a:defRPr>
            </a:pPr>
            <a:r>
              <a:t>Ley N° 20.920 en Chile</a:t>
            </a:r>
          </a:p>
          <a:p>
            <a:pPr>
              <a:spcBef>
                <a:spcPts val="12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Obliga a empresas productoras e importadoras a cuantificar y declarar periódicamente el tonelaje de envases y embalajes (plásticos, cartones, metales, vidrio, madera) introducidos al mercado nacional.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720" y="1874519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4C81"/>
                </a:solidFill>
                <a:latin typeface="Arial"/>
              </a:defRPr>
            </a:pPr>
            <a:r>
              <a:t>El Dolor Operativo Actual</a:t>
            </a:r>
          </a:p>
          <a:p>
            <a:pPr>
              <a:spcBef>
                <a:spcPts val="400"/>
              </a:spcBef>
              <a:defRPr sz="1100" b="1">
                <a:solidFill>
                  <a:srgbClr val="10955B"/>
                </a:solidFill>
                <a:latin typeface="Arial"/>
              </a:defRPr>
            </a:pPr>
            <a:r>
              <a:t>Procesos Manuales y Caos</a:t>
            </a:r>
          </a:p>
          <a:p>
            <a:pPr>
              <a:spcBef>
                <a:spcPts val="12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Las organizaciones cruzan libros de venta masivos contra especificaciones de empaque manualmente en Excel. Esto genera errores de redondeo, fórmulas rotas e inversión de porcentajes domiciliarios.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413455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75320" y="1874519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4C81"/>
                </a:solidFill>
                <a:latin typeface="Arial"/>
              </a:defRPr>
            </a:pPr>
            <a:r>
              <a:t>Riesgo Legal y Multas SMA</a:t>
            </a:r>
          </a:p>
          <a:p>
            <a:pPr>
              <a:spcBef>
                <a:spcPts val="400"/>
              </a:spcBef>
              <a:defRPr sz="1100" b="1">
                <a:solidFill>
                  <a:srgbClr val="10955B"/>
                </a:solidFill>
                <a:latin typeface="Arial"/>
              </a:defRPr>
            </a:pPr>
            <a:r>
              <a:t>Consecuencias de hasta 10.000 UTA</a:t>
            </a:r>
          </a:p>
          <a:p>
            <a:pPr>
              <a:spcBef>
                <a:spcPts val="12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La Superintendencia del Medio Ambiente sanciona declaraciones erróneas o fuera de plazo con multas multimillonarias. Además, ReSimple exige plantillas con geometrías rígidas y desalineaciones de celdas.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INDICADOR 1 — SOLUCIÓN Y VALOR DE INGENIERÍA (10%)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Propuesta de Solución: Plataforma SaaS B2B Especializada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1. Catálogo Técnico Multi-Empresa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Registro de SKUs desagregado en capas de material (pesos en gramos, tipo de plástico, ductilidad y peligrosidad). Totalmente aislado por Razón Social.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2. Ingesta Inteligente de Ventas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Parser tolerante a fallos que procesa planillas de clientes heterogéneas, omitiendo títulos institucionales y filas vacías con detección dinámica de cabeceras.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3. Motor de Cálculo y Prorrateo REP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Motor determinístico ('calculateTonnage.ts') que calcula materialidades a 6 decimales, aplica reglas logísticas (pallets/cajas) y prorratea canales DOM / NO DOM.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4114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4. Exportador Quirúrgico ReSimple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Inyección binaria no destructiva con ExcelJS sobre la plantilla oficial del Ministerio, preservando estilos y resolviendo desalineaciones verticales de celdas.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INDICADOR 5 — ESTÁNDARES DISCIPLINARIOS (50%)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Arquitectura de Software y Stack Tecnológico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955B"/>
                </a:solidFill>
                <a:latin typeface="Arial"/>
              </a:defRPr>
            </a:pPr>
            <a:r>
              <a:t>FRONTEND SPA MODERNO</a:t>
            </a:r>
          </a:p>
          <a:p>
            <a:pPr>
              <a:spcBef>
                <a:spcPts val="200"/>
              </a:spcBef>
              <a:defRPr sz="1200" b="1">
                <a:solidFill>
                  <a:srgbClr val="0F4C81"/>
                </a:solidFill>
                <a:latin typeface="Arial"/>
              </a:defRPr>
            </a:pPr>
            <a:r>
              <a:t>React 19 + TypeScript 5.9 + Vite 8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Modo estricto de TypeScript (prohibición absoluta de tipo 'any').</a:t>
            </a:r>
            <a:br/>
            <a:r>
              <a:t>• Arquitectura desacoplada: lógica pura en 'lib/' y UI en 'components/'.</a:t>
            </a:r>
            <a:br/>
            <a:r>
              <a:t>• Compilación ultrarrápida y cero dependencias pesadas en tiempo de carga.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955B"/>
                </a:solidFill>
                <a:latin typeface="Arial"/>
              </a:defRPr>
            </a:pPr>
            <a:r>
              <a:t>UI/UX CORPORATIVO B2B</a:t>
            </a:r>
          </a:p>
          <a:p>
            <a:pPr>
              <a:spcBef>
                <a:spcPts val="200"/>
              </a:spcBef>
              <a:defRPr sz="1200" b="1">
                <a:solidFill>
                  <a:srgbClr val="0F4C81"/>
                </a:solidFill>
                <a:latin typeface="Arial"/>
              </a:defRPr>
            </a:pPr>
            <a:r>
              <a:t>Tailwind CSS 4 + Lucide + TanStack Table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'Light Theme' corporativo estricto (slate/emerald) sin distractores.</a:t>
            </a:r>
            <a:br/>
            <a:r>
              <a:t>• Paginación y filtrado dinámico de catálogos masivos con TanStack.</a:t>
            </a:r>
            <a:br/>
            <a:r>
              <a:t>• Visualización de métricas de cumplimiento mediante gráficos Recharts.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955B"/>
                </a:solidFill>
                <a:latin typeface="Arial"/>
              </a:defRPr>
            </a:pPr>
            <a:r>
              <a:t>INGENIERÍA DE HOJAS DE CÁLCULO</a:t>
            </a:r>
          </a:p>
          <a:p>
            <a:pPr>
              <a:spcBef>
                <a:spcPts val="200"/>
              </a:spcBef>
              <a:defRPr sz="1200" b="1">
                <a:solidFill>
                  <a:srgbClr val="0F4C81"/>
                </a:solidFill>
                <a:latin typeface="Arial"/>
              </a:defRPr>
            </a:pPr>
            <a:r>
              <a:t>Separación Estratégica SheetJS vs ExcelJS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SheetJS ('xlsx'): Utilizado exclusivamente para LECTURA de planillas no estructuradas de clientes.</a:t>
            </a:r>
            <a:br/>
            <a:r>
              <a:t>• ExcelJS: Utilizado exclusivamente para ESCRITURA binaria no destructiva en la plantilla oficial de ReSimple.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57800" cy="2057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411480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955B"/>
                </a:solidFill>
                <a:latin typeface="Arial"/>
              </a:defRPr>
            </a:pPr>
            <a:r>
              <a:t>GOBERNANZA Y PERSISTENCIA</a:t>
            </a:r>
          </a:p>
          <a:p>
            <a:pPr>
              <a:spcBef>
                <a:spcPts val="200"/>
              </a:spcBef>
              <a:defRPr sz="1200" b="1">
                <a:solidFill>
                  <a:srgbClr val="0F4C81"/>
                </a:solidFill>
                <a:latin typeface="Arial"/>
              </a:defRPr>
            </a:pPr>
            <a:r>
              <a:t>Multi-Tenant y Snapshots Temporales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Multi-Tenant lógico por Razón Social ('razonSocialId').</a:t>
            </a:r>
            <a:br/>
            <a:r>
              <a:t>• Snapshots inmutables de auditoría ('razonSocialId::year::month').</a:t>
            </a:r>
            <a:br/>
            <a:r>
              <a:t>• Historial mensual congelado para fiscalizaciones SMA sin colisión de datos.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INDICADORES 2 Y 5 — COMPETENCIAS Y ESTÁNDARES (60%)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Articulación con el Perfil de Egreso y Calidad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6112" y="178308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4C81"/>
                </a:solidFill>
                <a:latin typeface="Arial"/>
              </a:defRPr>
            </a:pPr>
            <a:r>
              <a:t>1. Pruebas de Certificación</a:t>
            </a:r>
          </a:p>
          <a:p>
            <a:pPr>
              <a:spcBef>
                <a:spcPts val="200"/>
              </a:spcBef>
              <a:defRPr sz="900" b="1">
                <a:solidFill>
                  <a:srgbClr val="10955B"/>
                </a:solidFill>
                <a:latin typeface="Arial"/>
              </a:defRPr>
            </a:pPr>
            <a:r>
              <a:t>Estándares 1.1, 1.2 y 1.3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t>• Diseño de matriz de pruebas de caja negra con ventas masivas reales.</a:t>
            </a:r>
            <a:br/>
            <a:r>
              <a:t>• Validación cruzada contra macro corporativa certificada: paridad 100% al 6° decimal.</a:t>
            </a:r>
            <a:br/>
            <a:r>
              <a:t>• Mejora correctiva: inversión de ratios en columnas '% No Domiciliario' (1 - pct).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21024" y="178308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4C81"/>
                </a:solidFill>
                <a:latin typeface="Arial"/>
              </a:defRPr>
            </a:pPr>
            <a:r>
              <a:t>2. Gestión de Proyectos</a:t>
            </a:r>
          </a:p>
          <a:p>
            <a:pPr>
              <a:spcBef>
                <a:spcPts val="200"/>
              </a:spcBef>
              <a:defRPr sz="900" b="1">
                <a:solidFill>
                  <a:srgbClr val="10955B"/>
                </a:solidFill>
                <a:latin typeface="Arial"/>
              </a:defRPr>
            </a:pPr>
            <a:r>
              <a:t>Estándares 2.1 y 2.2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t>• Planificación mediante Metodología Escalativa de 4 escalones técnicos.</a:t>
            </a:r>
            <a:br/>
            <a:r>
              <a:t>• Control continuo del flujo de trabajo en equipo mediante tablero Kanban.</a:t>
            </a:r>
            <a:br/>
            <a:r>
              <a:t>• Gestión preventiva de riesgos regulatorios y control de deuda técnica en Git.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45936" y="178308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4C81"/>
                </a:solidFill>
                <a:latin typeface="Arial"/>
              </a:defRPr>
            </a:pPr>
            <a:r>
              <a:t>3. Modelos de Datos</a:t>
            </a:r>
          </a:p>
          <a:p>
            <a:pPr>
              <a:spcBef>
                <a:spcPts val="200"/>
              </a:spcBef>
              <a:defRPr sz="900" b="1">
                <a:solidFill>
                  <a:srgbClr val="10955B"/>
                </a:solidFill>
                <a:latin typeface="Arial"/>
              </a:defRPr>
            </a:pPr>
            <a:r>
              <a:t>Estándares 3.1 y 3.2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t>• Diseño multi-tenant particionado por Razón Social con contratos tipados.</a:t>
            </a:r>
            <a:br/>
            <a:r>
              <a:t>• Implementación de interfaces TypeScript estandarizadas ('ProductSku', 'RepMatrixEntry').</a:t>
            </a:r>
            <a:br/>
            <a:r>
              <a:t>• Persistencia estructurada con snapshots temporales inmutables.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70848" y="178308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4C81"/>
                </a:solidFill>
                <a:latin typeface="Arial"/>
              </a:defRPr>
            </a:pPr>
            <a:r>
              <a:t>4. Solución de Software</a:t>
            </a:r>
          </a:p>
          <a:p>
            <a:pPr>
              <a:spcBef>
                <a:spcPts val="200"/>
              </a:spcBef>
              <a:defRPr sz="900" b="1">
                <a:solidFill>
                  <a:srgbClr val="10955B"/>
                </a:solidFill>
                <a:latin typeface="Arial"/>
              </a:defRPr>
            </a:pPr>
            <a:r>
              <a:t>Estándares 4.1, 4.2 y 4.3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Arial"/>
              </a:defRPr>
            </a:pPr>
            <a:r>
              <a:t>• Modularidad estricta y desacoplamiento entre motor de cálculo y presentación.</a:t>
            </a:r>
            <a:br/>
            <a:r>
              <a:t>• Integración de parsers, visualizadores de datos y generadores de archivos binarios.</a:t>
            </a:r>
            <a:br/>
            <a:r>
              <a:t>• Despliegue SPA en navegador verificado con 'npm run build' y cero fallos de tipos.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MÉTODO DE DESARROLLO POR NIVELES DE MADUREZ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Metodología de Trabajo: Enfoque Escalativo (Incremental)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80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4C81"/>
                </a:solidFill>
                <a:latin typeface="Arial"/>
              </a:defRPr>
            </a:pPr>
            <a:r>
              <a:t>Escalón 1: Core de Ingesta &amp; Parametrización   [Sem 1 — 4]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Modelado de catálogos técnicos por SKU, capas de material y parser de hojas de cálculo con detección dinámica de filas de cabecera.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10728655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898648"/>
            <a:ext cx="10180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4C81"/>
                </a:solidFill>
                <a:latin typeface="Arial"/>
              </a:defRPr>
            </a:pPr>
            <a:r>
              <a:t>Escalón 2: Motor de Negocio y Clasificación REP   [Sem 5 — 8]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Algoritmo 'calculateTonnage.ts', reglas de conversión logística (unidades/cajas/pallets) y prorrateo porcentual DOM vs. NO DOM.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728655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4041648"/>
            <a:ext cx="10180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4C81"/>
                </a:solidFill>
                <a:latin typeface="Arial"/>
              </a:defRPr>
            </a:pPr>
            <a:r>
              <a:t>Escalón 3: Integración Institucional &amp; Exportador   [Sem 9 — 12]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Inyección quirúrgica con ExcelJS, normalización taxonómica ('normalizeMatchKey') y resolución de desalineaciones verticales ReSimple.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10728655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184648"/>
            <a:ext cx="10180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4C81"/>
                </a:solidFill>
                <a:latin typeface="Arial"/>
              </a:defRPr>
            </a:pPr>
            <a:r>
              <a:t>Escalón 4: Escalabilidad Enterprise, QA y Dashboard   [Sem 13 — 18]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Validación cruzada contra macros, rediseño de Dashboard corporativo, preparación para base de datos y defensa de título.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INDICADOR 13 — TRABAJO EN EQUIPO &amp; COLABORACIÓN (10%)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Organización del Equipo, Roles y Plan de Trabajo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57800" cy="3291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Fernando — Líder Técnico &amp; Core Engine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Arquitectura global del sistema y tipado en TypeScript.</a:t>
            </a:r>
            <a:br/>
            <a:r>
              <a:t>• Desarrollo del motor analítico 'calculateTonnage.ts'.</a:t>
            </a:r>
            <a:br/>
            <a:r>
              <a:t>• Programación del exportador binario con ExcelJS.</a:t>
            </a:r>
            <a:br/>
            <a:r>
              <a:t>• Normalización taxonómica difusa ('resimpleTemplateMatching.ts').</a:t>
            </a:r>
            <a:br/>
            <a:r>
              <a:t>• Resolución de registros independientes DOM / NO DOM.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2375" y="1645920"/>
            <a:ext cx="5257800" cy="3291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76695" y="182880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Integrante de Equipo — Frontend &amp; QA Engineer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Implementación de vistas e interfaces modulares con Tailwind CSS.</a:t>
            </a:r>
            <a:br/>
            <a:r>
              <a:t>• Gestión de tablas dinámicas y paginación con TanStack Table.</a:t>
            </a:r>
            <a:br/>
            <a:r>
              <a:t>• Diseño y ejecución de matrices de prueba de caja negra (QA).</a:t>
            </a:r>
            <a:br/>
            <a:r>
              <a:t>• Validación y carga de datasets corporativos de prueba.</a:t>
            </a:r>
            <a:br/>
            <a:r>
              <a:t>• Verificación de accesibilidad y experiencia de usuario B2B.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66360"/>
            <a:ext cx="10728655" cy="1097280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5257800"/>
            <a:ext cx="101800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955B"/>
                </a:solidFill>
                <a:latin typeface="Arial"/>
              </a:defRPr>
            </a:pPr>
            <a:r>
              <a:t>Flujo Colaborativo y Control de Versiones (Git Flow)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  <a:latin typeface="Arial"/>
              </a:defRPr>
            </a:pPr>
            <a:r>
              <a:t>Desarrollo basado en ramas por funcionalidad ('feature/*'), Pull Requests con revisión obligatoria por pares (Peer Review) antes del merge a 'main', y sincronización semanal con tableros Kanban.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INDICADOR 4 — FACTIBILIDAD Y EVIDENCIA EMPÍRICA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Factibilidad, Mitigación de Riesgos y QA Real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13455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74519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Datos Reales de Validación (Mayo 2026)</a:t>
            </a:r>
          </a:p>
          <a:p>
            <a:pPr>
              <a:spcBef>
                <a:spcPts val="400"/>
              </a:spcBef>
              <a:defRPr sz="1050" b="1">
                <a:solidFill>
                  <a:srgbClr val="10955B"/>
                </a:solidFill>
                <a:latin typeface="Arial"/>
              </a:defRPr>
            </a:pPr>
            <a:r>
              <a:t>Validación Cruzada Certificada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Datasets reales de ventas (empresa Prinorte).</a:t>
            </a:r>
            <a:br/>
            <a:r>
              <a:t>• Resultado del motor: Madera No Dom = 3.685 ton; Papel/Cartón Dom = 1.509 ton; No Dom = 0.784 ton.</a:t>
            </a:r>
            <a:br/>
            <a:r>
              <a:t>• Paridad matemática del 100% frente a la macro corporativa de auditoría.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720" y="1874519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Mitigación de Plantilla ReSimple</a:t>
            </a:r>
          </a:p>
          <a:p>
            <a:pPr>
              <a:spcBef>
                <a:spcPts val="400"/>
              </a:spcBef>
              <a:defRPr sz="1050" b="1">
                <a:solidFill>
                  <a:srgbClr val="10955B"/>
                </a:solidFill>
                <a:latin typeface="Arial"/>
              </a:defRPr>
            </a:pPr>
            <a:r>
              <a:t>Normalización Taxonómica Difusa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Problema: La plantilla oficial 2025/2026 tiene filas DOM y NO DOM desalineadas verticalmente.</a:t>
            </a:r>
            <a:br/>
            <a:r>
              <a:t>• Solución: Creación de dos registros de índices independientes ('domIndexRegistry' y 'noDomIndexRegistry') y traductor taxonómico (Madera -&gt; OTROS).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413455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75320" y="1874519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4C81"/>
                </a:solidFill>
                <a:latin typeface="Arial"/>
              </a:defRPr>
            </a:pPr>
            <a:r>
              <a:t>Factibilidad Semestral</a:t>
            </a:r>
          </a:p>
          <a:p>
            <a:pPr>
              <a:spcBef>
                <a:spcPts val="400"/>
              </a:spcBef>
              <a:defRPr sz="1050" b="1">
                <a:solidFill>
                  <a:srgbClr val="10955B"/>
                </a:solidFill>
                <a:latin typeface="Arial"/>
              </a:defRPr>
            </a:pPr>
            <a:r>
              <a:t>Recursos y Tiempos Acotados</a:t>
            </a:r>
          </a:p>
          <a:p>
            <a:pPr>
              <a:spcBef>
                <a:spcPts val="10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El stack React 19/Vite permite compilación en milisegundos y feedback inmediato.</a:t>
            </a:r>
            <a:br/>
            <a:r>
              <a:t>• La persistencia local desacoplada permite probar cálculos sin depender de servidores en fases tempranas.</a:t>
            </a:r>
            <a:br/>
            <a:r>
              <a:t>• Metodología orientada a entregables verificables cada 2 semanas.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955B"/>
                </a:solidFill>
                <a:latin typeface="Arial"/>
              </a:defRPr>
            </a:pPr>
            <a:r>
              <a:t>INDICATOR 6 — ENGLISH PROFICIENCY &amp; CLOSING (10%)</a:t>
            </a:r>
          </a:p>
          <a:p>
            <a:pPr>
              <a:spcBef>
                <a:spcPts val="400"/>
              </a:spcBef>
              <a:defRPr sz="2200" b="1">
                <a:solidFill>
                  <a:srgbClr val="0F4C81"/>
                </a:solidFill>
                <a:latin typeface="Arial"/>
              </a:defRPr>
            </a:pPr>
            <a:r>
              <a:t>Technical Conclusions &amp; Personal Reflection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5780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709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4C81"/>
                </a:solidFill>
                <a:latin typeface="Arial"/>
              </a:defRPr>
            </a:pPr>
            <a:r>
              <a:t>Technical Conclusions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Deterministic Computational Parity:</a:t>
            </a:r>
            <a:br/>
            <a:r>
              <a:t>Separating pure calculation logic into testable TypeScript modules guarantees deterministic results and zero rounding drift across millions of sales records.</a:t>
            </a:r>
            <a:br/>
            <a:br/>
            <a:r>
              <a:t>• Non-Destructive Binary Injection:</a:t>
            </a:r>
            <a:br/>
            <a:r>
              <a:t>Using ExcelJS enables in-place cell mutation without corrupting protected cells, styles, or official formulas mandated by environmental authorities.</a:t>
            </a:r>
            <a:br/>
            <a:br/>
            <a:r>
              <a:t>• Audit-Ready Architecture:</a:t>
            </a:r>
            <a:br/>
            <a:r>
              <a:t>Structuring data around corporate identifiers and immutable monthly snapshots provides full legal traceability for environmental audits.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2375" y="1645920"/>
            <a:ext cx="525780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76695" y="1828800"/>
            <a:ext cx="4709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4C81"/>
                </a:solidFill>
                <a:latin typeface="Arial"/>
              </a:defRPr>
            </a:pPr>
            <a:r>
              <a:t>Individual &amp; Professional Reflections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Professional Growth:</a:t>
            </a:r>
            <a:br/>
            <a:r>
              <a:t>Developing this Capstone project has been a transformative engineering journey. Beyond writing functional code, the greatest value was mastering defensive programming against unstandardized enterprise spreadsheets.</a:t>
            </a:r>
            <a:br/>
            <a:br/>
            <a:r>
              <a:t>• Industry Relevance:</a:t>
            </a:r>
            <a:br/>
            <a:r>
              <a:t>Navigating real regulatory ambiguity, designing clean multi-tenant architectures, and ensuring zero-defect environmental compliance provided practical competencies directly aligned with high-stakes software engineering in the tech industry.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2014</Words>
  <Application>Microsoft Office PowerPoint</Application>
  <PresentationFormat>Panorámica</PresentationFormat>
  <Paragraphs>95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PO- Alumno</cp:lastModifiedBy>
  <cp:revision>3</cp:revision>
  <dcterms:created xsi:type="dcterms:W3CDTF">2013-01-27T09:14:16Z</dcterms:created>
  <dcterms:modified xsi:type="dcterms:W3CDTF">2026-09-03T19:24:45Z</dcterms:modified>
  <cp:category/>
</cp:coreProperties>
</file>